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Quattrocento Bold" charset="1" panose="02020802030000000404"/>
      <p:regular r:id="rId14"/>
    </p:embeddedFont>
    <p:embeddedFont>
      <p:font typeface="Questrial" charset="1" panose="02000000000000000000"/>
      <p:regular r:id="rId15"/>
    </p:embeddedFont>
    <p:embeddedFont>
      <p:font typeface="Quattrocento" charset="1" panose="02020502030000000404"/>
      <p:regular r:id="rId16"/>
    </p:embeddedFont>
    <p:embeddedFont>
      <p:font typeface="Open Sans Bold" charset="1" panose="020B0806030504020204"/>
      <p:regular r:id="rId17"/>
    </p:embeddedFont>
    <p:embeddedFont>
      <p:font typeface="Open Sans" charset="1" panose="020B06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4299" y="2895271"/>
            <a:ext cx="16305001" cy="282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14"/>
              </a:lnSpc>
            </a:pPr>
            <a:r>
              <a:rPr lang="en-US" b="true" sz="12341">
                <a:solidFill>
                  <a:srgbClr val="F1FAEE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BACKEND FRAMEWORKS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13256298" y="5577828"/>
            <a:ext cx="8006005" cy="800600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644739" y="-4003002"/>
            <a:ext cx="8006005" cy="8006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77085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644739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587339" y="7404100"/>
            <a:ext cx="10720144" cy="185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Isaac Alves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Samuel Feliciano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João Vitor Oliveira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05386" y="809237"/>
            <a:ext cx="5167051" cy="8177823"/>
            <a:chOff x="0" y="0"/>
            <a:chExt cx="660400" cy="1045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045206"/>
            </a:xfrm>
            <a:custGeom>
              <a:avLst/>
              <a:gdLst/>
              <a:ahLst/>
              <a:cxnLst/>
              <a:rect r="r" b="b" t="t" l="l"/>
              <a:pathLst>
                <a:path h="1045206" w="660400">
                  <a:moveTo>
                    <a:pt x="220252" y="1026137"/>
                  </a:moveTo>
                  <a:cubicBezTo>
                    <a:pt x="254109" y="1037651"/>
                    <a:pt x="292600" y="1045206"/>
                    <a:pt x="330378" y="1045206"/>
                  </a:cubicBezTo>
                  <a:cubicBezTo>
                    <a:pt x="368157" y="1045206"/>
                    <a:pt x="404509" y="1038729"/>
                    <a:pt x="438009" y="1027215"/>
                  </a:cubicBezTo>
                  <a:cubicBezTo>
                    <a:pt x="438723" y="1026856"/>
                    <a:pt x="439435" y="1026856"/>
                    <a:pt x="440148" y="1026497"/>
                  </a:cubicBezTo>
                  <a:cubicBezTo>
                    <a:pt x="565955" y="980441"/>
                    <a:pt x="658618" y="858827"/>
                    <a:pt x="660400" y="711542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11014"/>
                  </a:lnTo>
                  <a:cubicBezTo>
                    <a:pt x="1782" y="859546"/>
                    <a:pt x="93019" y="981161"/>
                    <a:pt x="220252" y="102613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0400" cy="956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9629" y="3826710"/>
            <a:ext cx="6418566" cy="241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72"/>
              </a:lnSpc>
            </a:pPr>
            <a:r>
              <a:rPr lang="en-US" sz="10079">
                <a:solidFill>
                  <a:srgbClr val="F1FAEE"/>
                </a:solidFill>
                <a:latin typeface="Quattrocento"/>
                <a:ea typeface="Quattrocento"/>
                <a:cs typeface="Quattrocento"/>
                <a:sym typeface="Quattrocento"/>
              </a:rPr>
              <a:t>Node.JS Express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27939" y="326010"/>
            <a:ext cx="9634980" cy="9634980"/>
          </a:xfrm>
          <a:custGeom>
            <a:avLst/>
            <a:gdLst/>
            <a:ahLst/>
            <a:cxnLst/>
            <a:rect r="r" b="b" t="t" l="l"/>
            <a:pathLst>
              <a:path h="9634980" w="9634980">
                <a:moveTo>
                  <a:pt x="0" y="0"/>
                </a:moveTo>
                <a:lnTo>
                  <a:pt x="9634981" y="0"/>
                </a:lnTo>
                <a:lnTo>
                  <a:pt x="9634981" y="9634980"/>
                </a:lnTo>
                <a:lnTo>
                  <a:pt x="0" y="9634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89466" y="57785"/>
            <a:ext cx="10670927" cy="183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true">
                <a:solidFill>
                  <a:srgbClr val="F1FA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que escolhemos esse framework</a:t>
            </a:r>
            <a:r>
              <a:rPr lang="en-US" sz="5300">
                <a:solidFill>
                  <a:srgbClr val="F1FAEE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43487" y="4076370"/>
            <a:ext cx="810854" cy="191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59"/>
              </a:lnSpc>
            </a:pPr>
            <a:r>
              <a:rPr lang="en-US" sz="11185" b="true">
                <a:solidFill>
                  <a:srgbClr val="F1FA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77823" y="2221951"/>
            <a:ext cx="9694213" cy="671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5"/>
              </a:lnSpc>
            </a:pPr>
            <a:r>
              <a:rPr lang="en-US" sz="4246">
                <a:solidFill>
                  <a:srgbClr val="F1FAEE"/>
                </a:solidFill>
                <a:latin typeface="Open Sans"/>
                <a:ea typeface="Open Sans"/>
                <a:cs typeface="Open Sans"/>
                <a:sym typeface="Open Sans"/>
              </a:rPr>
              <a:t>Node.js permite usar JavaScript no servidor.</a:t>
            </a:r>
          </a:p>
          <a:p>
            <a:pPr algn="ctr">
              <a:lnSpc>
                <a:spcPts val="5945"/>
              </a:lnSpc>
            </a:pPr>
          </a:p>
          <a:p>
            <a:pPr algn="ctr">
              <a:lnSpc>
                <a:spcPts val="5945"/>
              </a:lnSpc>
            </a:pPr>
            <a:r>
              <a:rPr lang="en-US" sz="4246">
                <a:solidFill>
                  <a:srgbClr val="F1FAEE"/>
                </a:solidFill>
                <a:latin typeface="Open Sans"/>
                <a:ea typeface="Open Sans"/>
                <a:cs typeface="Open Sans"/>
                <a:sym typeface="Open Sans"/>
              </a:rPr>
              <a:t>Se o frontend já usa JavaScript, por exemplo, você pode trabalhar com a mesma linguagem nos dois lados.</a:t>
            </a:r>
          </a:p>
          <a:p>
            <a:pPr algn="ctr">
              <a:lnSpc>
                <a:spcPts val="5945"/>
              </a:lnSpc>
            </a:pPr>
          </a:p>
          <a:p>
            <a:pPr algn="ctr">
              <a:lnSpc>
                <a:spcPts val="5945"/>
              </a:lnSpc>
            </a:pPr>
            <a:r>
              <a:rPr lang="en-US" sz="4246">
                <a:solidFill>
                  <a:srgbClr val="F1FAEE"/>
                </a:solidFill>
                <a:latin typeface="Open Sans"/>
                <a:ea typeface="Open Sans"/>
                <a:cs typeface="Open Sans"/>
                <a:sym typeface="Open Sans"/>
              </a:rPr>
              <a:t>Isso reduz a necessidade de aprender duas linguagens diferentes.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04925"/>
            <a:ext cx="8738129" cy="358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91"/>
              </a:lnSpc>
            </a:pPr>
            <a:r>
              <a:rPr lang="en-US" b="true" sz="10100">
                <a:solidFill>
                  <a:srgbClr val="F1FAEE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Ótimo para criação de API's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21224" y="2843467"/>
            <a:ext cx="6751976" cy="269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38"/>
              </a:lnSpc>
              <a:spcBef>
                <a:spcPct val="0"/>
              </a:spcBef>
            </a:pPr>
            <a:r>
              <a:rPr lang="en-US" sz="5098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O Express facilita bastante a criação de API's REST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73289" y="5672430"/>
            <a:ext cx="12286011" cy="358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7"/>
              </a:lnSpc>
            </a:pPr>
            <a:r>
              <a:rPr lang="en-US" sz="4083">
                <a:solidFill>
                  <a:srgbClr val="F1FAEE"/>
                </a:solidFill>
                <a:latin typeface="Open Sans"/>
                <a:ea typeface="Open Sans"/>
                <a:cs typeface="Open Sans"/>
                <a:sym typeface="Open Sans"/>
              </a:rPr>
              <a:t>Você consegue criar rapidamente endpoints como:</a:t>
            </a:r>
          </a:p>
          <a:p>
            <a:pPr algn="ctr">
              <a:lnSpc>
                <a:spcPts val="5717"/>
              </a:lnSpc>
            </a:pPr>
            <a:r>
              <a:rPr lang="en-US" sz="4083">
                <a:solidFill>
                  <a:srgbClr val="F1FAEE"/>
                </a:solidFill>
                <a:latin typeface="Open Sans"/>
                <a:ea typeface="Open Sans"/>
                <a:cs typeface="Open Sans"/>
                <a:sym typeface="Open Sans"/>
              </a:rPr>
              <a:t>GET /usuarios</a:t>
            </a:r>
          </a:p>
          <a:p>
            <a:pPr algn="ctr">
              <a:lnSpc>
                <a:spcPts val="5717"/>
              </a:lnSpc>
            </a:pPr>
            <a:r>
              <a:rPr lang="en-US" sz="4083">
                <a:solidFill>
                  <a:srgbClr val="F1FAEE"/>
                </a:solidFill>
                <a:latin typeface="Open Sans"/>
                <a:ea typeface="Open Sans"/>
                <a:cs typeface="Open Sans"/>
                <a:sym typeface="Open Sans"/>
              </a:rPr>
              <a:t>POST /usuarios</a:t>
            </a:r>
          </a:p>
          <a:p>
            <a:pPr algn="ctr">
              <a:lnSpc>
                <a:spcPts val="5717"/>
              </a:lnSpc>
            </a:pPr>
            <a:r>
              <a:rPr lang="en-US" sz="4083">
                <a:solidFill>
                  <a:srgbClr val="F1FAEE"/>
                </a:solidFill>
                <a:latin typeface="Open Sans"/>
                <a:ea typeface="Open Sans"/>
                <a:cs typeface="Open Sans"/>
                <a:sym typeface="Open Sans"/>
              </a:rPr>
              <a:t>PUT /usuarios/:id</a:t>
            </a:r>
          </a:p>
          <a:p>
            <a:pPr algn="ctr">
              <a:lnSpc>
                <a:spcPts val="5717"/>
              </a:lnSpc>
            </a:pPr>
            <a:r>
              <a:rPr lang="en-US" sz="4083">
                <a:solidFill>
                  <a:srgbClr val="F1FAEE"/>
                </a:solidFill>
                <a:latin typeface="Open Sans"/>
                <a:ea typeface="Open Sans"/>
                <a:cs typeface="Open Sans"/>
                <a:sym typeface="Open Sans"/>
              </a:rPr>
              <a:t>DELETE /usuarios/:id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21750" y="0"/>
            <a:ext cx="6151381" cy="6151381"/>
          </a:xfrm>
          <a:custGeom>
            <a:avLst/>
            <a:gdLst/>
            <a:ahLst/>
            <a:cxnLst/>
            <a:rect r="r" b="b" t="t" l="l"/>
            <a:pathLst>
              <a:path h="6151381" w="6151381">
                <a:moveTo>
                  <a:pt x="0" y="0"/>
                </a:moveTo>
                <a:lnTo>
                  <a:pt x="6151381" y="0"/>
                </a:lnTo>
                <a:lnTo>
                  <a:pt x="6151381" y="6151381"/>
                </a:lnTo>
                <a:lnTo>
                  <a:pt x="0" y="6151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68310" y="7687570"/>
            <a:ext cx="6151381" cy="6151381"/>
          </a:xfrm>
          <a:custGeom>
            <a:avLst/>
            <a:gdLst/>
            <a:ahLst/>
            <a:cxnLst/>
            <a:rect r="r" b="b" t="t" l="l"/>
            <a:pathLst>
              <a:path h="6151381" w="6151381">
                <a:moveTo>
                  <a:pt x="0" y="0"/>
                </a:moveTo>
                <a:lnTo>
                  <a:pt x="6151380" y="0"/>
                </a:lnTo>
                <a:lnTo>
                  <a:pt x="6151380" y="6151381"/>
                </a:lnTo>
                <a:lnTo>
                  <a:pt x="0" y="6151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55708" y="0"/>
            <a:ext cx="6151381" cy="6151381"/>
          </a:xfrm>
          <a:custGeom>
            <a:avLst/>
            <a:gdLst/>
            <a:ahLst/>
            <a:cxnLst/>
            <a:rect r="r" b="b" t="t" l="l"/>
            <a:pathLst>
              <a:path h="6151381" w="6151381">
                <a:moveTo>
                  <a:pt x="0" y="0"/>
                </a:moveTo>
                <a:lnTo>
                  <a:pt x="6151381" y="0"/>
                </a:lnTo>
                <a:lnTo>
                  <a:pt x="6151381" y="6151381"/>
                </a:lnTo>
                <a:lnTo>
                  <a:pt x="0" y="6151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94483" y="5143500"/>
            <a:ext cx="6439135" cy="9430135"/>
            <a:chOff x="0" y="0"/>
            <a:chExt cx="594782" cy="8710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4782" cy="871060"/>
            </a:xfrm>
            <a:custGeom>
              <a:avLst/>
              <a:gdLst/>
              <a:ahLst/>
              <a:cxnLst/>
              <a:rect r="r" b="b" t="t" l="l"/>
              <a:pathLst>
                <a:path h="871060" w="594782">
                  <a:moveTo>
                    <a:pt x="198368" y="851991"/>
                  </a:moveTo>
                  <a:cubicBezTo>
                    <a:pt x="228861" y="863505"/>
                    <a:pt x="263527" y="871060"/>
                    <a:pt x="297551" y="871060"/>
                  </a:cubicBezTo>
                  <a:cubicBezTo>
                    <a:pt x="331576" y="871060"/>
                    <a:pt x="364317" y="864583"/>
                    <a:pt x="394488" y="853070"/>
                  </a:cubicBezTo>
                  <a:cubicBezTo>
                    <a:pt x="395131" y="852710"/>
                    <a:pt x="395773" y="852710"/>
                    <a:pt x="396414" y="852351"/>
                  </a:cubicBezTo>
                  <a:cubicBezTo>
                    <a:pt x="509721" y="806295"/>
                    <a:pt x="593177" y="684682"/>
                    <a:pt x="594782" y="541264"/>
                  </a:cubicBezTo>
                  <a:lnTo>
                    <a:pt x="594782" y="58613"/>
                  </a:lnTo>
                  <a:cubicBezTo>
                    <a:pt x="594782" y="43068"/>
                    <a:pt x="588607" y="28160"/>
                    <a:pt x="577615" y="17167"/>
                  </a:cubicBezTo>
                  <a:cubicBezTo>
                    <a:pt x="566623" y="6175"/>
                    <a:pt x="551714" y="0"/>
                    <a:pt x="536169" y="0"/>
                  </a:cubicBezTo>
                  <a:lnTo>
                    <a:pt x="58613" y="0"/>
                  </a:lnTo>
                  <a:cubicBezTo>
                    <a:pt x="43068" y="0"/>
                    <a:pt x="28160" y="6175"/>
                    <a:pt x="17167" y="17167"/>
                  </a:cubicBezTo>
                  <a:cubicBezTo>
                    <a:pt x="6175" y="28160"/>
                    <a:pt x="0" y="43068"/>
                    <a:pt x="0" y="58613"/>
                  </a:cubicBezTo>
                  <a:lnTo>
                    <a:pt x="0" y="540863"/>
                  </a:lnTo>
                  <a:cubicBezTo>
                    <a:pt x="1605" y="685400"/>
                    <a:pt x="83777" y="807016"/>
                    <a:pt x="198368" y="851991"/>
                  </a:cubicBezTo>
                  <a:lnTo>
                    <a:pt x="198368" y="851991"/>
                  </a:ln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4782" cy="782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50206" y="5143500"/>
            <a:ext cx="6443310" cy="9147690"/>
            <a:chOff x="0" y="0"/>
            <a:chExt cx="595168" cy="8449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5168" cy="844971"/>
            </a:xfrm>
            <a:custGeom>
              <a:avLst/>
              <a:gdLst/>
              <a:ahLst/>
              <a:cxnLst/>
              <a:rect r="r" b="b" t="t" l="l"/>
              <a:pathLst>
                <a:path h="844971" w="595168">
                  <a:moveTo>
                    <a:pt x="198496" y="825902"/>
                  </a:moveTo>
                  <a:cubicBezTo>
                    <a:pt x="229009" y="837416"/>
                    <a:pt x="263698" y="844971"/>
                    <a:pt x="297744" y="844971"/>
                  </a:cubicBezTo>
                  <a:cubicBezTo>
                    <a:pt x="331791" y="844971"/>
                    <a:pt x="364553" y="838494"/>
                    <a:pt x="394744" y="826980"/>
                  </a:cubicBezTo>
                  <a:cubicBezTo>
                    <a:pt x="395387" y="826621"/>
                    <a:pt x="396029" y="826621"/>
                    <a:pt x="396671" y="826261"/>
                  </a:cubicBezTo>
                  <a:cubicBezTo>
                    <a:pt x="510052" y="780206"/>
                    <a:pt x="593562" y="658592"/>
                    <a:pt x="595168" y="515754"/>
                  </a:cubicBezTo>
                  <a:lnTo>
                    <a:pt x="595168" y="58575"/>
                  </a:lnTo>
                  <a:cubicBezTo>
                    <a:pt x="595168" y="26225"/>
                    <a:pt x="568943" y="0"/>
                    <a:pt x="536593" y="0"/>
                  </a:cubicBezTo>
                  <a:lnTo>
                    <a:pt x="58575" y="0"/>
                  </a:lnTo>
                  <a:cubicBezTo>
                    <a:pt x="26225" y="0"/>
                    <a:pt x="0" y="26225"/>
                    <a:pt x="0" y="58575"/>
                  </a:cubicBezTo>
                  <a:lnTo>
                    <a:pt x="0" y="515372"/>
                  </a:lnTo>
                  <a:cubicBezTo>
                    <a:pt x="1606" y="659311"/>
                    <a:pt x="83831" y="780926"/>
                    <a:pt x="198496" y="825902"/>
                  </a:cubicBezTo>
                  <a:lnTo>
                    <a:pt x="198496" y="825902"/>
                  </a:ln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95168" cy="756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18067" y="637666"/>
            <a:ext cx="12651866" cy="358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91"/>
              </a:lnSpc>
              <a:spcBef>
                <a:spcPct val="0"/>
              </a:spcBef>
            </a:pPr>
            <a:r>
              <a:rPr lang="en-US" b="true" sz="10100">
                <a:solidFill>
                  <a:srgbClr val="F1FAEE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Bom desempenho para aplicações com muitas requisições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1366" y="5616055"/>
            <a:ext cx="7040992" cy="467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8"/>
              </a:lnSpc>
            </a:pPr>
            <a:r>
              <a:rPr lang="en-US" sz="3306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Isso é especialmente interessante para:</a:t>
            </a:r>
          </a:p>
          <a:p>
            <a:pPr algn="ctr">
              <a:lnSpc>
                <a:spcPts val="4628"/>
              </a:lnSpc>
            </a:pPr>
            <a:r>
              <a:rPr lang="en-US" sz="3306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APIs</a:t>
            </a:r>
          </a:p>
          <a:p>
            <a:pPr algn="ctr">
              <a:lnSpc>
                <a:spcPts val="4628"/>
              </a:lnSpc>
            </a:pPr>
            <a:r>
              <a:rPr lang="en-US" sz="3306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sistemas web</a:t>
            </a:r>
          </a:p>
          <a:p>
            <a:pPr algn="ctr">
              <a:lnSpc>
                <a:spcPts val="4628"/>
              </a:lnSpc>
            </a:pPr>
            <a:r>
              <a:rPr lang="en-US" sz="3306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aplicações em tempo real</a:t>
            </a:r>
          </a:p>
          <a:p>
            <a:pPr algn="ctr">
              <a:lnSpc>
                <a:spcPts val="4628"/>
              </a:lnSpc>
            </a:pPr>
            <a:r>
              <a:rPr lang="en-US" sz="3306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chats</a:t>
            </a:r>
          </a:p>
          <a:p>
            <a:pPr algn="ctr" marL="0" indent="0" lvl="0">
              <a:lnSpc>
                <a:spcPts val="4628"/>
              </a:lnSpc>
              <a:spcBef>
                <a:spcPct val="0"/>
              </a:spcBef>
            </a:pPr>
            <a:r>
              <a:rPr lang="en-US" sz="3306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sistemas que fazem muitas requisições ao banco de dados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4483" y="5348146"/>
            <a:ext cx="6439135" cy="56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91"/>
              </a:lnSpc>
              <a:spcBef>
                <a:spcPct val="0"/>
              </a:spcBef>
            </a:pPr>
            <a:r>
              <a:rPr lang="en-US" sz="45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O Node.js utiliza um modelo assíncrono e orientado a eventos, permitindo lidar com várias operações de I/O sem ficar bloqueando o servidor.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822588" y="-5360857"/>
            <a:ext cx="8006005" cy="800600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4433308" y="7228793"/>
            <a:ext cx="8006005" cy="800600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434369" y="301693"/>
            <a:ext cx="9652243" cy="950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1"/>
              </a:lnSpc>
            </a:pP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Você pode escolher quais bibliotecas</a:t>
            </a:r>
          </a:p>
          <a:p>
            <a:pPr algn="ctr">
              <a:lnSpc>
                <a:spcPts val="6251"/>
              </a:lnSpc>
            </a:pP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utilizar para:</a:t>
            </a:r>
          </a:p>
          <a:p>
            <a:pPr algn="ctr">
              <a:lnSpc>
                <a:spcPts val="6251"/>
              </a:lnSpc>
            </a:pP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• </a:t>
            </a: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autenticação</a:t>
            </a:r>
          </a:p>
          <a:p>
            <a:pPr algn="ctr">
              <a:lnSpc>
                <a:spcPts val="6251"/>
              </a:lnSpc>
            </a:pP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• </a:t>
            </a: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banco de dados</a:t>
            </a:r>
          </a:p>
          <a:p>
            <a:pPr algn="ctr">
              <a:lnSpc>
                <a:spcPts val="6251"/>
              </a:lnSpc>
            </a:pP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• </a:t>
            </a: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validação</a:t>
            </a:r>
          </a:p>
          <a:p>
            <a:pPr algn="ctr">
              <a:lnSpc>
                <a:spcPts val="6251"/>
              </a:lnSpc>
            </a:pP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• </a:t>
            </a: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JWT</a:t>
            </a:r>
          </a:p>
          <a:p>
            <a:pPr algn="ctr">
              <a:lnSpc>
                <a:spcPts val="6251"/>
              </a:lnSpc>
            </a:pP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• </a:t>
            </a: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criptografia</a:t>
            </a:r>
          </a:p>
          <a:p>
            <a:pPr algn="ctr">
              <a:lnSpc>
                <a:spcPts val="6251"/>
              </a:lnSpc>
            </a:pP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• </a:t>
            </a: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upload de arquivos</a:t>
            </a:r>
          </a:p>
          <a:p>
            <a:pPr algn="ctr">
              <a:lnSpc>
                <a:spcPts val="6251"/>
              </a:lnSpc>
            </a:pPr>
          </a:p>
          <a:p>
            <a:pPr algn="ctr" marL="0" indent="0" lvl="0">
              <a:lnSpc>
                <a:spcPts val="6251"/>
              </a:lnSpc>
              <a:spcBef>
                <a:spcPct val="0"/>
              </a:spcBef>
            </a:pPr>
            <a:r>
              <a:rPr lang="en-US" sz="4465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Isso dá bastante liberdade para estruturar o projeto da maneira que fizer mais sentido.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201068" y="2834497"/>
            <a:ext cx="8429481" cy="358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191"/>
              </a:lnSpc>
              <a:spcBef>
                <a:spcPct val="0"/>
              </a:spcBef>
            </a:pPr>
            <a:r>
              <a:rPr lang="en-US" b="true" sz="10100">
                <a:solidFill>
                  <a:srgbClr val="F1FAEE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Express é simples e flexível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3303865" y="7407006"/>
            <a:ext cx="6228340" cy="6228340"/>
          </a:xfrm>
          <a:custGeom>
            <a:avLst/>
            <a:gdLst/>
            <a:ahLst/>
            <a:cxnLst/>
            <a:rect r="r" b="b" t="t" l="l"/>
            <a:pathLst>
              <a:path h="6228340" w="6228340">
                <a:moveTo>
                  <a:pt x="0" y="0"/>
                </a:moveTo>
                <a:lnTo>
                  <a:pt x="6228340" y="0"/>
                </a:lnTo>
                <a:lnTo>
                  <a:pt x="6228340" y="6228340"/>
                </a:lnTo>
                <a:lnTo>
                  <a:pt x="0" y="6228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92567" y="-1995433"/>
            <a:ext cx="3990867" cy="3990867"/>
          </a:xfrm>
          <a:custGeom>
            <a:avLst/>
            <a:gdLst/>
            <a:ahLst/>
            <a:cxnLst/>
            <a:rect r="r" b="b" t="t" l="l"/>
            <a:pathLst>
              <a:path h="3990867" w="3990867">
                <a:moveTo>
                  <a:pt x="0" y="0"/>
                </a:moveTo>
                <a:lnTo>
                  <a:pt x="3990866" y="0"/>
                </a:lnTo>
                <a:lnTo>
                  <a:pt x="3990866" y="3990866"/>
                </a:lnTo>
                <a:lnTo>
                  <a:pt x="0" y="3990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67330" y="2272379"/>
            <a:ext cx="18422659" cy="567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6"/>
              </a:lnSpc>
            </a:pPr>
            <a:r>
              <a:rPr lang="en-US" sz="3561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O Node.js possui o npm, com uma enorme quantidade de pacotes disponíveis.</a:t>
            </a:r>
          </a:p>
          <a:p>
            <a:pPr algn="ctr">
              <a:lnSpc>
                <a:spcPts val="4986"/>
              </a:lnSpc>
            </a:pPr>
            <a:r>
              <a:rPr lang="en-US" sz="3561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Por exemplo:</a:t>
            </a:r>
          </a:p>
          <a:p>
            <a:pPr algn="ctr">
              <a:lnSpc>
                <a:spcPts val="4986"/>
              </a:lnSpc>
            </a:pPr>
          </a:p>
          <a:p>
            <a:pPr algn="ctr">
              <a:lnSpc>
                <a:spcPts val="4986"/>
              </a:lnSpc>
            </a:pPr>
            <a:r>
              <a:rPr lang="en-US" sz="3561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npm install express</a:t>
            </a:r>
          </a:p>
          <a:p>
            <a:pPr algn="ctr">
              <a:lnSpc>
                <a:spcPts val="4986"/>
              </a:lnSpc>
            </a:pPr>
            <a:r>
              <a:rPr lang="en-US" sz="3561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npm install pg</a:t>
            </a:r>
          </a:p>
          <a:p>
            <a:pPr algn="ctr">
              <a:lnSpc>
                <a:spcPts val="4986"/>
              </a:lnSpc>
            </a:pPr>
            <a:r>
              <a:rPr lang="en-US" sz="3561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npm install jsonwebtoken</a:t>
            </a:r>
          </a:p>
          <a:p>
            <a:pPr algn="ctr">
              <a:lnSpc>
                <a:spcPts val="4986"/>
              </a:lnSpc>
            </a:pPr>
            <a:r>
              <a:rPr lang="en-US" sz="3561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npm install bcrypt</a:t>
            </a:r>
          </a:p>
          <a:p>
            <a:pPr algn="ctr">
              <a:lnSpc>
                <a:spcPts val="4986"/>
              </a:lnSpc>
            </a:pPr>
          </a:p>
          <a:p>
            <a:pPr algn="ctr" marL="0" indent="0" lvl="0">
              <a:lnSpc>
                <a:spcPts val="4986"/>
              </a:lnSpc>
              <a:spcBef>
                <a:spcPct val="0"/>
              </a:spcBef>
            </a:pPr>
            <a:r>
              <a:rPr lang="en-US" sz="3561">
                <a:solidFill>
                  <a:srgbClr val="F1FAEE"/>
                </a:solidFill>
                <a:latin typeface="Questrial"/>
                <a:ea typeface="Questrial"/>
                <a:cs typeface="Questrial"/>
                <a:sym typeface="Questrial"/>
              </a:rPr>
              <a:t>Assim, você não precisa implementar várias funcionalidades do zero.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256298" y="-5462496"/>
            <a:ext cx="8006005" cy="800600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37945" y="537908"/>
            <a:ext cx="12227598" cy="1257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91"/>
              </a:lnSpc>
              <a:spcBef>
                <a:spcPct val="0"/>
              </a:spcBef>
            </a:pPr>
            <a:r>
              <a:rPr lang="en-US" b="true" sz="10100">
                <a:solidFill>
                  <a:srgbClr val="F1FAEE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Grande ecossistema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4963829" y="8716192"/>
            <a:ext cx="8006005" cy="8006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465543" y="7490063"/>
            <a:ext cx="6433511" cy="6433511"/>
          </a:xfrm>
          <a:custGeom>
            <a:avLst/>
            <a:gdLst/>
            <a:ahLst/>
            <a:cxnLst/>
            <a:rect r="r" b="b" t="t" l="l"/>
            <a:pathLst>
              <a:path h="6433511" w="6433511">
                <a:moveTo>
                  <a:pt x="0" y="0"/>
                </a:moveTo>
                <a:lnTo>
                  <a:pt x="6433511" y="0"/>
                </a:lnTo>
                <a:lnTo>
                  <a:pt x="6433511" y="6433512"/>
                </a:lnTo>
                <a:lnTo>
                  <a:pt x="0" y="643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81273" y="-252688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57029" y="820870"/>
            <a:ext cx="16154316" cy="926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36"/>
              </a:lnSpc>
              <a:spcBef>
                <a:spcPct val="0"/>
              </a:spcBef>
            </a:pPr>
            <a:r>
              <a:rPr lang="en-US" b="true" sz="7293">
                <a:solidFill>
                  <a:srgbClr val="F1FAEE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DESVANTAGENS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15516158" y="8082294"/>
            <a:ext cx="8006005" cy="800600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-5528794" y="-5801299"/>
            <a:ext cx="8006005" cy="8006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16158" y="-6083364"/>
            <a:ext cx="8006005" cy="80060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5234230" y="8082294"/>
            <a:ext cx="8006005" cy="800600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DADC">
                    <a:alpha val="100000"/>
                  </a:srgbClr>
                </a:gs>
                <a:gs pos="100000">
                  <a:srgbClr val="213E6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19069" y="9258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854131" y="-2800350"/>
            <a:ext cx="3615289" cy="3615289"/>
          </a:xfrm>
          <a:custGeom>
            <a:avLst/>
            <a:gdLst/>
            <a:ahLst/>
            <a:cxnLst/>
            <a:rect r="r" b="b" t="t" l="l"/>
            <a:pathLst>
              <a:path h="3615289" w="3615289">
                <a:moveTo>
                  <a:pt x="0" y="0"/>
                </a:moveTo>
                <a:lnTo>
                  <a:pt x="3615289" y="0"/>
                </a:lnTo>
                <a:lnTo>
                  <a:pt x="3615289" y="3615289"/>
                </a:lnTo>
                <a:lnTo>
                  <a:pt x="0" y="3615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05023" y="2109456"/>
            <a:ext cx="1556439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1FA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Não é id</a:t>
            </a:r>
            <a:r>
              <a:rPr lang="en-US" b="true" sz="5199">
                <a:solidFill>
                  <a:srgbClr val="F1FA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eal para tarefas muito pesadas de CPU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61245" y="4652327"/>
            <a:ext cx="1296551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1FA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Pode exigir muitas bibliotecas externas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6831" y="7196773"/>
            <a:ext cx="1779433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1FA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Código assíncrono pode ser mais difícil para iniciantes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16798" y="4274503"/>
            <a:ext cx="665440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DAHT3T43Zvs</dc:identifier>
  <dcterms:modified xsi:type="dcterms:W3CDTF">2011-08-01T06:04:30Z</dcterms:modified>
  <cp:revision>1</cp:revision>
  <dc:title>Apresentação básica simples e ilustrada azul</dc:title>
</cp:coreProperties>
</file>